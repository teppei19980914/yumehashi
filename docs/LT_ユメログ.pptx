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800" b="1">
                <a:solidFill>
                  <a:srgbClr val="89B4FA"/>
                </a:solidFill>
                <a:latin typeface="Yu Gothic UI"/>
              </a:defRPr>
            </a:pPr>
            <a:r>
              <a:t>スクラッチ開発未経験エンジニアが</a:t>
            </a:r>
            <a:br/>
            <a:r>
              <a:t>AI駆動開発で3週間でアプリを作った話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560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A6ADC8"/>
                </a:solidFill>
                <a:latin typeface="Yu Gothic UI"/>
              </a:defRPr>
            </a:pPr>
            <a:r>
              <a:t>— ユメログ (YumeLog) 開発記 —</a:t>
            </a:r>
          </a:p>
        </p:txBody>
      </p:sp>
      <p:pic>
        <p:nvPicPr>
          <p:cNvPr id="4" name="Picture 3" descr="LP用QRコード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3474720"/>
            <a:ext cx="2286000" cy="2286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43200" y="59436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C7086"/>
                </a:solidFill>
                <a:latin typeface="Yu Gothic UI"/>
              </a:defRPr>
            </a:pPr>
            <a:r>
              <a:t>QRコードは最後にもう一度出します。まずは話を聞いてください。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89B4FA"/>
                </a:solidFill>
                <a:latin typeface="Yu Gothic UI"/>
              </a:defRPr>
            </a:pPr>
            <a:r>
              <a:t>自己紹介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280160"/>
            <a:ext cx="5029200" cy="4846320"/>
          </a:xfrm>
          <a:prstGeom prst="round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463040"/>
            <a:ext cx="43891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600"/>
              </a:spcAft>
              <a:defRPr sz="2200" b="1">
                <a:solidFill>
                  <a:srgbClr val="89B4FA"/>
                </a:solidFill>
                <a:latin typeface="Yu Gothic UI"/>
              </a:defRPr>
            </a:pPr>
            <a:r>
              <a:t>プロフィール</a:t>
            </a:r>
          </a:p>
          <a:p>
            <a:pPr algn="l">
              <a:spcAft>
                <a:spcPts val="2000"/>
              </a:spcAft>
              <a:defRPr sz="2000" b="1">
                <a:solidFill>
                  <a:srgbClr val="CDD6F4"/>
                </a:solidFill>
                <a:latin typeface="Yu Gothic UI"/>
              </a:defRPr>
            </a:pPr>
            <a:r>
              <a:t>27歳 / IT業界 5年目</a:t>
            </a:r>
          </a:p>
          <a:p>
            <a:pPr algn="l">
              <a:spcAft>
                <a:spcPts val="200"/>
              </a:spcAft>
              <a:defRPr sz="1300" b="0">
                <a:solidFill>
                  <a:srgbClr val="6C7086"/>
                </a:solidFill>
                <a:latin typeface="Yu Gothic UI"/>
              </a:defRPr>
            </a:pPr>
            <a:r>
              <a:t>IT業界経験</a:t>
            </a:r>
          </a:p>
          <a:p>
            <a:pPr algn="l">
              <a:spcAft>
                <a:spcPts val="400"/>
              </a:spcAft>
              <a:defRPr sz="1600" b="0">
                <a:solidFill>
                  <a:srgbClr val="CDD6F4"/>
                </a:solidFill>
                <a:latin typeface="Yu Gothic UI"/>
              </a:defRPr>
            </a:pPr>
            <a:r>
              <a:t>パッケージ開発（約3年）</a:t>
            </a:r>
          </a:p>
          <a:p>
            <a:pPr algn="l">
              <a:spcAft>
                <a:spcPts val="1600"/>
              </a:spcAft>
              <a:defRPr sz="1600" b="0">
                <a:solidFill>
                  <a:srgbClr val="CDD6F4"/>
                </a:solidFill>
                <a:latin typeface="Yu Gothic UI"/>
              </a:defRPr>
            </a:pPr>
            <a:r>
              <a:t>ローコード開発（約3年）</a:t>
            </a:r>
          </a:p>
          <a:p>
            <a:pPr algn="l">
              <a:spcAft>
                <a:spcPts val="200"/>
              </a:spcAft>
              <a:defRPr sz="1300" b="0">
                <a:solidFill>
                  <a:srgbClr val="6C7086"/>
                </a:solidFill>
                <a:latin typeface="Yu Gothic UI"/>
              </a:defRPr>
            </a:pPr>
            <a:r>
              <a:t>スクラッチ開発経験</a:t>
            </a:r>
          </a:p>
          <a:p>
            <a:pPr algn="l">
              <a:spcAft>
                <a:spcPts val="1600"/>
              </a:spcAft>
              <a:defRPr sz="1600" b="1">
                <a:solidFill>
                  <a:srgbClr val="F9E2AF"/>
                </a:solidFill>
                <a:latin typeface="Yu Gothic UI"/>
              </a:defRPr>
            </a:pPr>
            <a:r>
              <a:t>なし（ユメログが初）</a:t>
            </a:r>
          </a:p>
          <a:p>
            <a:pPr algn="l">
              <a:spcAft>
                <a:spcPts val="200"/>
              </a:spcAft>
              <a:defRPr sz="1300" b="0">
                <a:solidFill>
                  <a:srgbClr val="6C7086"/>
                </a:solidFill>
                <a:latin typeface="Yu Gothic UI"/>
              </a:defRPr>
            </a:pPr>
            <a:r>
              <a:t>Flutter / Dart 経験</a:t>
            </a:r>
          </a:p>
          <a:p>
            <a:pPr algn="l">
              <a:spcAft>
                <a:spcPts val="600"/>
              </a:spcAft>
              <a:defRPr sz="1600" b="1">
                <a:solidFill>
                  <a:srgbClr val="F9E2AF"/>
                </a:solidFill>
                <a:latin typeface="Yu Gothic UI"/>
              </a:defRPr>
            </a:pPr>
            <a:r>
              <a:t>なし（ユメログが初）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280160"/>
            <a:ext cx="5212080" cy="4846320"/>
          </a:xfrm>
          <a:prstGeom prst="round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0" y="1463040"/>
            <a:ext cx="4572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400"/>
              </a:spcAft>
              <a:defRPr sz="2200" b="1">
                <a:solidFill>
                  <a:srgbClr val="89B4FA"/>
                </a:solidFill>
                <a:latin typeface="Yu Gothic UI"/>
              </a:defRPr>
            </a:pPr>
            <a:r>
              <a:t>今日のゴール</a:t>
            </a:r>
          </a:p>
          <a:p>
            <a:pPr algn="l">
              <a:spcAft>
                <a:spcPts val="400"/>
              </a:spcAft>
              <a:defRPr sz="800" b="0">
                <a:solidFill>
                  <a:srgbClr val="CDD6F4"/>
                </a:solidFill>
                <a:latin typeface="Yu Gothic UI"/>
              </a:defRPr>
            </a:pPr>
          </a:p>
          <a:p>
            <a:pPr algn="l">
              <a:spcAft>
                <a:spcPts val="400"/>
              </a:spcAft>
              <a:defRPr sz="2000" b="0">
                <a:solidFill>
                  <a:srgbClr val="A6ADC8"/>
                </a:solidFill>
                <a:latin typeface="Yu Gothic UI"/>
              </a:defRPr>
            </a:pPr>
            <a:r>
              <a:t>AI駆動開発で</a:t>
            </a:r>
          </a:p>
          <a:p>
            <a:pPr algn="l">
              <a:spcAft>
                <a:spcPts val="400"/>
              </a:spcAft>
              <a:defRPr sz="2400" b="1">
                <a:solidFill>
                  <a:srgbClr val="CDD6F4"/>
                </a:solidFill>
                <a:latin typeface="Yu Gothic UI"/>
              </a:defRPr>
            </a:pPr>
            <a:r>
              <a:t>何がどれだけ変わるのか</a:t>
            </a:r>
          </a:p>
          <a:p>
            <a:pPr algn="l">
              <a:spcAft>
                <a:spcPts val="2800"/>
              </a:spcAft>
              <a:defRPr sz="2000" b="0">
                <a:solidFill>
                  <a:srgbClr val="A6ADC8"/>
                </a:solidFill>
                <a:latin typeface="Yu Gothic UI"/>
              </a:defRPr>
            </a:pPr>
            <a:r>
              <a:t>を数字で示す</a:t>
            </a:r>
          </a:p>
          <a:p>
            <a:pPr algn="l">
              <a:spcAft>
                <a:spcPts val="400"/>
              </a:spcAft>
              <a:defRPr sz="800" b="0">
                <a:solidFill>
                  <a:srgbClr val="CDD6F4"/>
                </a:solidFill>
                <a:latin typeface="Yu Gothic UI"/>
              </a:defRPr>
            </a:pPr>
          </a:p>
          <a:p>
            <a:pPr algn="l">
              <a:spcAft>
                <a:spcPts val="400"/>
              </a:spcAft>
              <a:defRPr sz="1800" b="0">
                <a:solidFill>
                  <a:srgbClr val="6C7086"/>
                </a:solidFill>
                <a:latin typeface="Yu Gothic UI"/>
              </a:defRPr>
            </a:pPr>
            <a:r>
              <a:t>そして、その成果物を</a:t>
            </a:r>
          </a:p>
          <a:p>
            <a:pPr algn="l">
              <a:spcAft>
                <a:spcPts val="600"/>
              </a:spcAft>
              <a:defRPr sz="1800" b="1">
                <a:solidFill>
                  <a:srgbClr val="A6E3A1"/>
                </a:solidFill>
                <a:latin typeface="Yu Gothic UI"/>
              </a:defRPr>
            </a:pPr>
            <a:r>
              <a:t>皆さんの目で確かめてもらう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89B4FA"/>
                </a:solidFill>
                <a:latin typeface="Yu Gothic UI"/>
              </a:defRPr>
            </a:pPr>
            <a:r>
              <a:t>Before: もし従来の開発で作ったら？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10515600" cy="1645920"/>
          </a:xfrm>
          <a:prstGeom prst="round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554480"/>
            <a:ext cx="98755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2000" b="1">
                <a:solidFill>
                  <a:srgbClr val="89B4FA"/>
                </a:solidFill>
                <a:latin typeface="Yu Gothic UI"/>
              </a:defRPr>
            </a:pPr>
            <a:r>
              <a:t>今回作ったアプリの規模</a:t>
            </a:r>
          </a:p>
          <a:p>
            <a:pPr algn="l">
              <a:spcAft>
                <a:spcPts val="400"/>
              </a:spcAft>
              <a:defRPr sz="1800" b="0">
                <a:solidFill>
                  <a:srgbClr val="CDD6F4"/>
                </a:solidFill>
                <a:latin typeface="Yu Gothic UI"/>
              </a:defRPr>
            </a:pPr>
            <a:r>
              <a:t>コード約48,000行  /  テスト813件  /  32機能  /  8画面  /  6テーブル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C7086"/>
                </a:solidFill>
                <a:latin typeface="Yu Gothic UI"/>
              </a:defRPr>
            </a:pPr>
            <a:r>
              <a:t>IPA ソフトウェア開発データ白書 + COCOMO II モデルで試算すると…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977640"/>
            <a:ext cx="10515600" cy="731520"/>
          </a:xfrm>
          <a:prstGeom prst="round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1148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CDD6F4"/>
                </a:solidFill>
                <a:latin typeface="Yu Gothic UI"/>
              </a:defRPr>
            </a:pPr>
            <a:r>
              <a:t>フレームワーク学習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0" y="41148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89B4FA"/>
                </a:solidFill>
                <a:latin typeface="Yu Gothic UI"/>
              </a:defRPr>
            </a:pPr>
            <a:r>
              <a:t>1〜2ヶ月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411480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C7086"/>
                </a:solidFill>
                <a:latin typeface="Yu Gothic UI"/>
              </a:defRPr>
            </a:pPr>
            <a:r>
              <a:t>Flutter / Dart / Drift / Riverpod を学ぶ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9377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CDD6F4"/>
                </a:solidFill>
                <a:latin typeface="Yu Gothic UI"/>
              </a:defRPr>
            </a:pPr>
            <a:r>
              <a:t>設計・開発・テスト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493776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89B4FA"/>
                </a:solidFill>
                <a:latin typeface="Yu Gothic UI"/>
              </a:defRPr>
            </a:pPr>
            <a:r>
              <a:t>4〜7ヶ月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49377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C7086"/>
                </a:solidFill>
                <a:latin typeface="Yu Gothic UI"/>
              </a:defRPr>
            </a:pPr>
            <a:r>
              <a:t>生産性 50〜100行/人日（IPA中央値）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5623560"/>
            <a:ext cx="10515600" cy="731520"/>
          </a:xfrm>
          <a:prstGeom prst="round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57607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9E2AF"/>
                </a:solidFill>
                <a:latin typeface="Yu Gothic UI"/>
              </a:defRPr>
            </a:pPr>
            <a:r>
              <a:t>合計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0" y="57607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38BA8"/>
                </a:solidFill>
                <a:latin typeface="Yu Gothic UI"/>
              </a:defRPr>
            </a:pPr>
            <a:r>
              <a:t>6〜9ヶ月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576072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C7086"/>
                </a:solidFill>
                <a:latin typeface="Yu Gothic UI"/>
              </a:defRPr>
            </a:pPr>
            <a:r>
              <a:t>1人で新規スクラッチ開発の場合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89B4FA"/>
                </a:solidFill>
                <a:latin typeface="Yu Gothic UI"/>
              </a:defRPr>
            </a:pPr>
            <a:r>
              <a:t>After: AI駆動開発の実績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280160"/>
            <a:ext cx="3291840" cy="1828800"/>
          </a:xfrm>
          <a:prstGeom prst="round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27432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6C7086"/>
                </a:solidFill>
                <a:latin typeface="Yu Gothic UI"/>
              </a:defRPr>
            </a:pPr>
            <a:r>
              <a:t>開発期間</a:t>
            </a:r>
          </a:p>
          <a:p>
            <a:pPr algn="ctr">
              <a:spcAft>
                <a:spcPts val="400"/>
              </a:spcAft>
              <a:defRPr sz="4200" b="1">
                <a:solidFill>
                  <a:srgbClr val="A6E3A1"/>
                </a:solidFill>
                <a:latin typeface="Yu Gothic UI"/>
              </a:defRPr>
            </a:pPr>
            <a:r>
              <a:t>21日</a:t>
            </a:r>
          </a:p>
          <a:p>
            <a:pPr algn="ctr">
              <a:spcAft>
                <a:spcPts val="600"/>
              </a:spcAft>
              <a:defRPr sz="1400" b="0">
                <a:solidFill>
                  <a:srgbClr val="6C7086"/>
                </a:solidFill>
                <a:latin typeface="Yu Gothic UI"/>
              </a:defRPr>
            </a:pPr>
            <a:r>
              <a:t>（従来: 6〜9ヶ月）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280160"/>
            <a:ext cx="3291840" cy="1828800"/>
          </a:xfrm>
          <a:prstGeom prst="round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0" y="1371600"/>
            <a:ext cx="27432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6C7086"/>
                </a:solidFill>
                <a:latin typeface="Yu Gothic UI"/>
              </a:defRPr>
            </a:pPr>
            <a:r>
              <a:t>1日あたり生産量</a:t>
            </a:r>
          </a:p>
          <a:p>
            <a:pPr algn="ctr">
              <a:spcAft>
                <a:spcPts val="400"/>
              </a:spcAft>
              <a:defRPr sz="4200" b="1">
                <a:solidFill>
                  <a:srgbClr val="A6E3A1"/>
                </a:solidFill>
                <a:latin typeface="Yu Gothic UI"/>
              </a:defRPr>
            </a:pPr>
            <a:r>
              <a:t>2,281行</a:t>
            </a:r>
          </a:p>
          <a:p>
            <a:pPr algn="ctr">
              <a:spcAft>
                <a:spcPts val="600"/>
              </a:spcAft>
              <a:defRPr sz="1400" b="0">
                <a:solidFill>
                  <a:srgbClr val="6C7086"/>
                </a:solidFill>
                <a:latin typeface="Yu Gothic UI"/>
              </a:defRPr>
            </a:pPr>
            <a:r>
              <a:t>（従来: 50〜100行）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280160"/>
            <a:ext cx="3383280" cy="1828800"/>
          </a:xfrm>
          <a:prstGeom prst="round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0" y="1371600"/>
            <a:ext cx="27432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6C7086"/>
                </a:solidFill>
                <a:latin typeface="Yu Gothic UI"/>
              </a:defRPr>
            </a:pPr>
            <a:r>
              <a:t>学習コスト</a:t>
            </a:r>
          </a:p>
          <a:p>
            <a:pPr algn="ctr">
              <a:spcAft>
                <a:spcPts val="400"/>
              </a:spcAft>
              <a:defRPr sz="4200" b="1">
                <a:solidFill>
                  <a:srgbClr val="A6E3A1"/>
                </a:solidFill>
                <a:latin typeface="Yu Gothic UI"/>
              </a:defRPr>
            </a:pPr>
            <a:r>
              <a:t>0日</a:t>
            </a:r>
          </a:p>
          <a:p>
            <a:pPr algn="ctr">
              <a:spcAft>
                <a:spcPts val="600"/>
              </a:spcAft>
              <a:defRPr sz="1400" b="0">
                <a:solidFill>
                  <a:srgbClr val="6C7086"/>
                </a:solidFill>
                <a:latin typeface="Yu Gothic UI"/>
              </a:defRPr>
            </a:pPr>
            <a:r>
              <a:t>（従来: 1〜2ヶ月）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4747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9E2AF"/>
                </a:solidFill>
                <a:latin typeface="Yu Gothic UI"/>
              </a:defRPr>
            </a:pPr>
            <a:r>
              <a:t>従来開発との比較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93192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C7086"/>
                </a:solidFill>
                <a:latin typeface="Yu Gothic UI"/>
              </a:defRPr>
            </a:pPr>
            <a:r>
              <a:t>指標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393192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C7086"/>
                </a:solidFill>
                <a:latin typeface="Yu Gothic UI"/>
              </a:defRPr>
            </a:pPr>
            <a:r>
              <a:t>従来開発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0" y="393192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C7086"/>
                </a:solidFill>
                <a:latin typeface="Yu Gothic UI"/>
              </a:defRPr>
            </a:pPr>
            <a:r>
              <a:t>AI駆動開発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393192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C7086"/>
                </a:solidFill>
                <a:latin typeface="Yu Gothic UI"/>
              </a:defRPr>
            </a:pPr>
            <a:r>
              <a:t>効果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343400"/>
            <a:ext cx="10972800" cy="438912"/>
          </a:xfrm>
          <a:prstGeom prst="round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438912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DD6F4"/>
                </a:solidFill>
                <a:latin typeface="Yu Gothic UI"/>
              </a:defRPr>
            </a:pPr>
            <a:r>
              <a:t>開発期間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91840" y="438912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6ADC8"/>
                </a:solidFill>
                <a:latin typeface="Yu Gothic UI"/>
              </a:defRPr>
            </a:pPr>
            <a:r>
              <a:t>6〜9ヶ月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52160" y="438912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89B4FA"/>
                </a:solidFill>
                <a:latin typeface="Yu Gothic UI"/>
              </a:defRPr>
            </a:pPr>
            <a:r>
              <a:t>21日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0" y="43891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A6E3A1"/>
                </a:solidFill>
                <a:latin typeface="Yu Gothic UI"/>
              </a:defRPr>
            </a:pPr>
            <a:r>
              <a:t>6〜9倍 短縮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8920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DD6F4"/>
                </a:solidFill>
                <a:latin typeface="Yu Gothic UI"/>
              </a:defRPr>
            </a:pPr>
            <a:r>
              <a:t>コード生産速度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91840" y="48920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6ADC8"/>
                </a:solidFill>
                <a:latin typeface="Yu Gothic UI"/>
              </a:defRPr>
            </a:pPr>
            <a:r>
              <a:t>50〜100行/日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52160" y="48920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89B4FA"/>
                </a:solidFill>
                <a:latin typeface="Yu Gothic UI"/>
              </a:defRPr>
            </a:pPr>
            <a:r>
              <a:t>2,281行/日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48920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A6E3A1"/>
                </a:solidFill>
                <a:latin typeface="Yu Gothic UI"/>
              </a:defRPr>
            </a:pPr>
            <a:r>
              <a:t>23〜46倍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5349240"/>
            <a:ext cx="10972800" cy="438912"/>
          </a:xfrm>
          <a:prstGeom prst="round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539496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DD6F4"/>
                </a:solidFill>
                <a:latin typeface="Yu Gothic UI"/>
              </a:defRPr>
            </a:pPr>
            <a:r>
              <a:t>テスト密度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91840" y="539496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6ADC8"/>
                </a:solidFill>
                <a:latin typeface="Yu Gothic UI"/>
              </a:defRPr>
            </a:pPr>
            <a:r>
              <a:t>0〜3件/KLOC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52160" y="539496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89B4FA"/>
                </a:solidFill>
                <a:latin typeface="Yu Gothic UI"/>
              </a:defRPr>
            </a:pPr>
            <a:r>
              <a:t>16.9件/KLOC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0" y="53949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A6E3A1"/>
                </a:solidFill>
                <a:latin typeface="Yu Gothic UI"/>
              </a:defRPr>
            </a:pPr>
            <a:r>
              <a:t>6倍以上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589788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DD6F4"/>
                </a:solidFill>
                <a:latin typeface="Yu Gothic UI"/>
              </a:defRPr>
            </a:pPr>
            <a:r>
              <a:t>テストケース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91840" y="589788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6ADC8"/>
                </a:solidFill>
                <a:latin typeface="Yu Gothic UI"/>
              </a:defRPr>
            </a:pPr>
            <a:r>
              <a:t>0〜50件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52160" y="589788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89B4FA"/>
                </a:solidFill>
                <a:latin typeface="Yu Gothic UI"/>
              </a:defRPr>
            </a:pPr>
            <a:r>
              <a:t>813件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0" y="58978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A6E3A1"/>
                </a:solidFill>
                <a:latin typeface="Yu Gothic UI"/>
              </a:defRPr>
            </a:pPr>
            <a:r>
              <a:t>自動生成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89B4FA"/>
                </a:solidFill>
                <a:latin typeface="Yu Gothic UI"/>
              </a:defRPr>
            </a:pPr>
            <a:r>
              <a:t>工程別の比較 — テスト工程が消滅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C7086"/>
                </a:solidFill>
                <a:latin typeface="Yu Gothic UI"/>
              </a:defRPr>
            </a:pPr>
            <a:r>
              <a:t>工程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0" y="11887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C7086"/>
                </a:solidFill>
                <a:latin typeface="Yu Gothic UI"/>
              </a:defRPr>
            </a:pPr>
            <a:r>
              <a:t>AI駆動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11887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C7086"/>
                </a:solidFill>
                <a:latin typeface="Yu Gothic UI"/>
              </a:defRPr>
            </a:pPr>
            <a:r>
              <a:t>従来開発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11887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C7086"/>
                </a:solidFill>
                <a:latin typeface="Yu Gothic UI"/>
              </a:defRPr>
            </a:pPr>
            <a:r>
              <a:t>短縮率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0" y="11887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C7086"/>
                </a:solidFill>
                <a:latin typeface="Yu Gothic UI"/>
              </a:defRPr>
            </a:pPr>
            <a:r>
              <a:t>AIの主な貢献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600200"/>
            <a:ext cx="10972800" cy="530352"/>
          </a:xfrm>
          <a:prstGeom prst="round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69164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CDD6F4"/>
                </a:solidFill>
                <a:latin typeface="Yu Gothic UI"/>
              </a:defRPr>
            </a:pPr>
            <a:r>
              <a:t>企画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0" y="169164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89B4FA"/>
                </a:solidFill>
                <a:latin typeface="Yu Gothic UI"/>
              </a:defRPr>
            </a:pPr>
            <a:r>
              <a:t>1日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169164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A6ADC8"/>
                </a:solidFill>
                <a:latin typeface="Yu Gothic UI"/>
              </a:defRPr>
            </a:pPr>
            <a:r>
              <a:t>1〜2週間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169164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A6E3A1"/>
                </a:solidFill>
                <a:latin typeface="Yu Gothic UI"/>
              </a:defRPr>
            </a:pPr>
            <a:r>
              <a:t>70〜85%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0" y="16916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C7086"/>
                </a:solidFill>
                <a:latin typeface="Yu Gothic UI"/>
              </a:defRPr>
            </a:pPr>
            <a:r>
              <a:t>機能案ブレスト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3317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CDD6F4"/>
                </a:solidFill>
                <a:latin typeface="Yu Gothic UI"/>
              </a:defRPr>
            </a:pPr>
            <a:r>
              <a:t>要件定義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23317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89B4FA"/>
                </a:solidFill>
                <a:latin typeface="Yu Gothic UI"/>
              </a:defRPr>
            </a:pPr>
            <a:r>
              <a:t>1日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233172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A6ADC8"/>
                </a:solidFill>
                <a:latin typeface="Yu Gothic UI"/>
              </a:defRPr>
            </a:pPr>
            <a:r>
              <a:t>2〜4週間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0" y="23317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A6E3A1"/>
                </a:solidFill>
                <a:latin typeface="Yu Gothic UI"/>
              </a:defRPr>
            </a:pPr>
            <a:r>
              <a:t>80〜90%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0" y="23317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C7086"/>
                </a:solidFill>
                <a:latin typeface="Yu Gothic UI"/>
              </a:defRPr>
            </a:pPr>
            <a:r>
              <a:t>要件書の自動生成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2880360"/>
            <a:ext cx="10972800" cy="530352"/>
          </a:xfrm>
          <a:prstGeom prst="round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2971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CDD6F4"/>
                </a:solidFill>
                <a:latin typeface="Yu Gothic UI"/>
              </a:defRPr>
            </a:pPr>
            <a:r>
              <a:t>仕様検討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6080" y="2971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89B4FA"/>
                </a:solidFill>
                <a:latin typeface="Yu Gothic UI"/>
              </a:defRPr>
            </a:pPr>
            <a:r>
              <a:t>2日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0" y="297180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A6ADC8"/>
                </a:solidFill>
                <a:latin typeface="Yu Gothic UI"/>
              </a:defRPr>
            </a:pPr>
            <a:r>
              <a:t>3〜6週間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0" y="2971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A6E3A1"/>
                </a:solidFill>
                <a:latin typeface="Yu Gothic UI"/>
              </a:defRPr>
            </a:pPr>
            <a:r>
              <a:t>80〜90%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61120" y="29718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C7086"/>
                </a:solidFill>
                <a:latin typeface="Yu Gothic UI"/>
              </a:defRPr>
            </a:pPr>
            <a:r>
              <a:t>画面仕様・DB設計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3611879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CDD6F4"/>
                </a:solidFill>
                <a:latin typeface="Yu Gothic UI"/>
              </a:defRPr>
            </a:pPr>
            <a:r>
              <a:t>設計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926080" y="3611879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89B4FA"/>
                </a:solidFill>
                <a:latin typeface="Yu Gothic UI"/>
              </a:defRPr>
            </a:pPr>
            <a:r>
              <a:t>1日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0" y="3611879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A6ADC8"/>
                </a:solidFill>
                <a:latin typeface="Yu Gothic UI"/>
              </a:defRPr>
            </a:pPr>
            <a:r>
              <a:t>2〜4週間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0" y="3611879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A6E3A1"/>
                </a:solidFill>
                <a:latin typeface="Yu Gothic UI"/>
              </a:defRPr>
            </a:pPr>
            <a:r>
              <a:t>80〜90%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61120" y="3611879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C7086"/>
                </a:solidFill>
                <a:latin typeface="Yu Gothic UI"/>
              </a:defRPr>
            </a:pPr>
            <a:r>
              <a:t>アーキテクチャ選定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4160520"/>
            <a:ext cx="10972800" cy="530352"/>
          </a:xfrm>
          <a:prstGeom prst="round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425196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CDD6F4"/>
                </a:solidFill>
                <a:latin typeface="Yu Gothic UI"/>
              </a:defRPr>
            </a:pPr>
            <a:r>
              <a:t>開発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26080" y="425196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89B4FA"/>
                </a:solidFill>
                <a:latin typeface="Yu Gothic UI"/>
              </a:defRPr>
            </a:pPr>
            <a:r>
              <a:t>14日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0" y="42519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A6ADC8"/>
                </a:solidFill>
                <a:latin typeface="Yu Gothic UI"/>
              </a:defRPr>
            </a:pPr>
            <a:r>
              <a:t>3〜6ヶ月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0" y="425196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A6E3A1"/>
                </a:solidFill>
                <a:latin typeface="Yu Gothic UI"/>
              </a:defRPr>
            </a:pPr>
            <a:r>
              <a:t>85〜95%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61120" y="42519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C7086"/>
                </a:solidFill>
                <a:latin typeface="Yu Gothic UI"/>
              </a:defRPr>
            </a:pPr>
            <a:r>
              <a:t>コード自動生成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489204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9E2AF"/>
                </a:solidFill>
                <a:latin typeface="Yu Gothic UI"/>
              </a:defRPr>
            </a:pPr>
            <a:r>
              <a:t>テスト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926080" y="489204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89B4FA"/>
                </a:solidFill>
                <a:latin typeface="Yu Gothic UI"/>
              </a:defRPr>
            </a:pPr>
            <a:r>
              <a:t>並行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0" y="489204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A6ADC8"/>
                </a:solidFill>
                <a:latin typeface="Yu Gothic UI"/>
              </a:defRPr>
            </a:pPr>
            <a:r>
              <a:t>1〜2ヶ月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0" y="489204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A6E3A1"/>
                </a:solidFill>
                <a:latin typeface="Yu Gothic UI"/>
              </a:defRPr>
            </a:pPr>
            <a:r>
              <a:t>90〜95%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961120" y="48920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C7086"/>
                </a:solidFill>
                <a:latin typeface="Yu Gothic UI"/>
              </a:defRPr>
            </a:pPr>
            <a:r>
              <a:t>813件自動生成+CI/CD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48640" y="5440679"/>
            <a:ext cx="10972800" cy="530352"/>
          </a:xfrm>
          <a:prstGeom prst="round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31520" y="5532119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E1E2E"/>
                </a:solidFill>
                <a:latin typeface="Yu Gothic UI"/>
              </a:defRPr>
            </a:pPr>
            <a:r>
              <a:t>合計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926080" y="5532119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E1E2E"/>
                </a:solidFill>
                <a:latin typeface="Yu Gothic UI"/>
              </a:defRPr>
            </a:pPr>
            <a:r>
              <a:t>約21日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0" y="5532119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1E1E2E"/>
                </a:solidFill>
                <a:latin typeface="Yu Gothic UI"/>
              </a:defRPr>
            </a:pPr>
            <a:r>
              <a:t>7〜14ヶ月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15200" y="5532119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E1E2E"/>
                </a:solidFill>
                <a:latin typeface="Yu Gothic UI"/>
              </a:defRPr>
            </a:pPr>
            <a:r>
              <a:t>約90%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961120" y="5532119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E1E2E"/>
                </a:solidFill>
                <a:latin typeface="Yu Gothic UI"/>
              </a:defRPr>
            </a:pPr>
          </a:p>
        </p:txBody>
      </p:sp>
      <p:sp>
        <p:nvSpPr>
          <p:cNvPr id="47" name="TextBox 46"/>
          <p:cNvSpPr txBox="1"/>
          <p:nvPr/>
        </p:nvSpPr>
        <p:spPr>
          <a:xfrm>
            <a:off x="731520" y="6217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9E2AF"/>
                </a:solidFill>
                <a:latin typeface="Yu Gothic UI"/>
              </a:defRPr>
            </a:pPr>
            <a:r>
              <a:t>最も効果が大きい工程: テスト（90〜95%短縮）— 開発と同時にAIがテストを自動生成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89B4FA"/>
                </a:solidFill>
                <a:latin typeface="Yu Gothic UI"/>
              </a:defRPr>
            </a:pPr>
            <a:r>
              <a:t>なぜこれが可能なのか？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058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A6ADC8"/>
                </a:solidFill>
                <a:latin typeface="Yu Gothic UI"/>
              </a:defRPr>
            </a:pPr>
            <a:r>
              <a:t>魔法ではなく「仕組み」— Claude Code の5段階最適化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737360"/>
            <a:ext cx="10515600" cy="777240"/>
          </a:xfrm>
          <a:prstGeom prst="round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05840" y="1737360"/>
            <a:ext cx="822960" cy="822960"/>
          </a:xfrm>
          <a:prstGeom prst="ellipse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200" b="1">
                <a:solidFill>
                  <a:srgbClr val="1E1E2E"/>
                </a:solidFill>
                <a:latin typeface="Yu Gothic U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03120" y="1810512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89B4FA"/>
                </a:solidFill>
                <a:latin typeface="Yu Gothic UI"/>
              </a:defRPr>
            </a:pPr>
            <a:r>
              <a:t>素のプロンプト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1847088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6ADC8"/>
                </a:solidFill>
                <a:latin typeface="Yu Gothic UI"/>
              </a:defRPr>
            </a:pPr>
            <a:r>
              <a:t>毎回ルールを口頭で指示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651760"/>
            <a:ext cx="10515600" cy="777240"/>
          </a:xfrm>
          <a:prstGeom prst="round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05840" y="2651760"/>
            <a:ext cx="822960" cy="822960"/>
          </a:xfrm>
          <a:prstGeom prst="ellipse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200" b="1">
                <a:solidFill>
                  <a:srgbClr val="1E1E2E"/>
                </a:solidFill>
                <a:latin typeface="Yu Gothic UI"/>
              </a:defRPr>
            </a:pPr>
            <a: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03120" y="2724912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89B4FA"/>
                </a:solidFill>
                <a:latin typeface="Yu Gothic UI"/>
              </a:defRPr>
            </a:pPr>
            <a:r>
              <a:t>+ CLAUDE.md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2761488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6ADC8"/>
                </a:solidFill>
                <a:latin typeface="Yu Gothic UI"/>
              </a:defRPr>
            </a:pPr>
            <a:r>
              <a:t>ルールを自動読み込み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566160"/>
            <a:ext cx="10515600" cy="777240"/>
          </a:xfrm>
          <a:prstGeom prst="round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05840" y="3566160"/>
            <a:ext cx="822960" cy="822960"/>
          </a:xfrm>
          <a:prstGeom prst="ellipse">
            <a:avLst/>
          </a:prstGeom>
          <a:solidFill>
            <a:srgbClr val="A6E3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200" b="1">
                <a:solidFill>
                  <a:srgbClr val="1E1E2E"/>
                </a:solidFill>
                <a:latin typeface="Yu Gothic UI"/>
              </a:defRPr>
            </a:pPr>
            <a: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03120" y="3639312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A6E3A1"/>
                </a:solidFill>
                <a:latin typeface="Yu Gothic UI"/>
              </a:defRPr>
            </a:pPr>
            <a:r>
              <a:t>+ Skills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3675888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6ADC8"/>
                </a:solidFill>
                <a:latin typeface="Yu Gothic UI"/>
              </a:defRPr>
            </a:pPr>
            <a:r>
              <a:t>手順書をコマンドで注入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480560"/>
            <a:ext cx="10515600" cy="777240"/>
          </a:xfrm>
          <a:prstGeom prst="round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05840" y="4480560"/>
            <a:ext cx="822960" cy="822960"/>
          </a:xfrm>
          <a:prstGeom prst="ellipse">
            <a:avLst/>
          </a:prstGeom>
          <a:solidFill>
            <a:srgbClr val="A6E3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200" b="1">
                <a:solidFill>
                  <a:srgbClr val="1E1E2E"/>
                </a:solidFill>
                <a:latin typeface="Yu Gothic UI"/>
              </a:defRPr>
            </a:pPr>
            <a: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03120" y="4553712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A6E3A1"/>
                </a:solidFill>
                <a:latin typeface="Yu Gothic UI"/>
              </a:defRPr>
            </a:pPr>
            <a:r>
              <a:t>+ Hooks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0" y="4590288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6ADC8"/>
                </a:solidFill>
                <a:latin typeface="Yu Gothic UI"/>
              </a:defRPr>
            </a:pPr>
            <a:r>
              <a:t>フォーマット・テストを自動実行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5394960"/>
            <a:ext cx="10515600" cy="777240"/>
          </a:xfrm>
          <a:prstGeom prst="round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05840" y="5394960"/>
            <a:ext cx="822960" cy="822960"/>
          </a:xfrm>
          <a:prstGeom prst="ellipse">
            <a:avLst/>
          </a:prstGeom>
          <a:solidFill>
            <a:srgbClr val="F9E2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200" b="1">
                <a:solidFill>
                  <a:srgbClr val="1E1E2E"/>
                </a:solidFill>
                <a:latin typeface="Yu Gothic UI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03120" y="5468112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9E2AF"/>
                </a:solidFill>
                <a:latin typeface="Yu Gothic UI"/>
              </a:defRPr>
            </a:pPr>
            <a:r>
              <a:t>+ Agents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0" y="5504688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6ADC8"/>
                </a:solidFill>
                <a:latin typeface="Yu Gothic UI"/>
              </a:defRPr>
            </a:pPr>
            <a:r>
              <a:t>セキュリティ・性能レビューを並行実行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6400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9E2AF"/>
                </a:solidFill>
                <a:latin typeface="Yu Gothic UI"/>
              </a:defRPr>
            </a:pPr>
            <a:r>
              <a:t>Level 5 到達で、人間がやるのは「何を作るか決める」と「動作確認する」だけ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89B4FA"/>
                </a:solidFill>
                <a:latin typeface="Yu Gothic UI"/>
              </a:defRPr>
            </a:pPr>
            <a:r>
              <a:t>で、何を作ったの？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058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A6ADC8"/>
                </a:solidFill>
                <a:latin typeface="Yu Gothic UI"/>
              </a:defRPr>
            </a:pPr>
            <a:r>
              <a:t>「夢を行動に変えるアプリ」— 3週間・1人・未経験で作った32機能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474720" cy="1645920"/>
          </a:xfrm>
          <a:prstGeom prst="round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14400" y="1828800"/>
            <a:ext cx="822960" cy="822960"/>
          </a:xfrm>
          <a:prstGeom prst="ellipse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200" b="1">
                <a:solidFill>
                  <a:srgbClr val="1E1E2E"/>
                </a:solidFill>
                <a:latin typeface="Yu Gothic U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20240" y="1874519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89B4FA"/>
                </a:solidFill>
                <a:latin typeface="Yu Gothic UI"/>
              </a:defRPr>
            </a:pPr>
            <a:r>
              <a:t>書き出す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28600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6ADC8"/>
                </a:solidFill>
                <a:latin typeface="Yu Gothic UI"/>
              </a:defRPr>
            </a:pPr>
            <a:r>
              <a:t>夢を言葉にする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59" y="1645920"/>
            <a:ext cx="3474720" cy="1645920"/>
          </a:xfrm>
          <a:prstGeom prst="round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663439" y="1828800"/>
            <a:ext cx="822960" cy="822960"/>
          </a:xfrm>
          <a:prstGeom prst="ellipse">
            <a:avLst/>
          </a:prstGeom>
          <a:solidFill>
            <a:srgbClr val="A6E3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200" b="1">
                <a:solidFill>
                  <a:srgbClr val="1E1E2E"/>
                </a:solidFill>
                <a:latin typeface="Yu Gothic UI"/>
              </a:defRPr>
            </a:pPr>
            <a: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79" y="1874519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A6E3A1"/>
                </a:solidFill>
                <a:latin typeface="Yu Gothic UI"/>
              </a:defRPr>
            </a:pPr>
            <a:r>
              <a:t>分解する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79" y="228600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6ADC8"/>
                </a:solidFill>
                <a:latin typeface="Yu Gothic UI"/>
              </a:defRPr>
            </a:pPr>
            <a:r>
              <a:t>目標→タスクに分解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1645920"/>
            <a:ext cx="3474720" cy="1645920"/>
          </a:xfrm>
          <a:prstGeom prst="round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412480" y="1828800"/>
            <a:ext cx="822960" cy="822960"/>
          </a:xfrm>
          <a:prstGeom prst="ellipse">
            <a:avLst/>
          </a:prstGeom>
          <a:solidFill>
            <a:srgbClr val="F9E2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200" b="1">
                <a:solidFill>
                  <a:srgbClr val="1E1E2E"/>
                </a:solidFill>
                <a:latin typeface="Yu Gothic UI"/>
              </a:defRPr>
            </a:pPr>
            <a: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18320" y="1874519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9E2AF"/>
                </a:solidFill>
                <a:latin typeface="Yu Gothic UI"/>
              </a:defRPr>
            </a:pPr>
            <a:r>
              <a:t>続ける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18320" y="228600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6ADC8"/>
                </a:solidFill>
                <a:latin typeface="Yu Gothic UI"/>
              </a:defRPr>
            </a:pPr>
            <a:r>
              <a:t>星座で成長を実感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3657600"/>
            <a:ext cx="3474720" cy="1188720"/>
          </a:xfrm>
          <a:prstGeom prst="round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379476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89B4FA"/>
                </a:solidFill>
                <a:latin typeface="Yu Gothic UI"/>
              </a:defRPr>
            </a:pPr>
            <a:r>
              <a:t>夢・目標・タスク管理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420624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6ADC8"/>
                </a:solidFill>
                <a:latin typeface="Yu Gothic UI"/>
              </a:defRPr>
            </a:pPr>
            <a:r>
              <a:t>階層で整理 + 発見ガイド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80559" y="3657600"/>
            <a:ext cx="3474720" cy="1188720"/>
          </a:xfrm>
          <a:prstGeom prst="round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54879" y="379476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89B4FA"/>
                </a:solidFill>
                <a:latin typeface="Yu Gothic UI"/>
              </a:defRPr>
            </a:pPr>
            <a:r>
              <a:t>活動予定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79" y="420624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6ADC8"/>
                </a:solidFill>
                <a:latin typeface="Yu Gothic UI"/>
              </a:defRPr>
            </a:pPr>
            <a:r>
              <a:t>タイムライン + リマインド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0" y="3657600"/>
            <a:ext cx="3474720" cy="1188720"/>
          </a:xfrm>
          <a:prstGeom prst="round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0" y="379476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89B4FA"/>
                </a:solidFill>
                <a:latin typeface="Yu Gothic UI"/>
              </a:defRPr>
            </a:pPr>
            <a:r>
              <a:t>書籍管理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20" y="420624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6ADC8"/>
                </a:solidFill>
                <a:latin typeface="Yu Gothic UI"/>
              </a:defRPr>
            </a:pPr>
            <a:r>
              <a:t>本棚風UI + 読了レビュー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5120640"/>
            <a:ext cx="3474720" cy="1188720"/>
          </a:xfrm>
          <a:prstGeom prst="round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5840" y="52578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89B4FA"/>
                </a:solidFill>
                <a:latin typeface="Yu Gothic UI"/>
              </a:defRPr>
            </a:pPr>
            <a:r>
              <a:t>統計・分析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566928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6ADC8"/>
                </a:solidFill>
                <a:latin typeface="Yu Gothic UI"/>
              </a:defRPr>
            </a:pPr>
            <a:r>
              <a:t>グラフで活動を可視化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480559" y="5120640"/>
            <a:ext cx="3474720" cy="1188720"/>
          </a:xfrm>
          <a:prstGeom prst="round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54879" y="52578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89B4FA"/>
                </a:solidFill>
                <a:latin typeface="Yu Gothic UI"/>
              </a:defRPr>
            </a:pPr>
            <a:r>
              <a:t>星座システム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79" y="566928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6ADC8"/>
                </a:solidFill>
                <a:latin typeface="Yu Gothic UI"/>
              </a:defRPr>
            </a:pPr>
            <a:r>
              <a:t>ゲーム感覚で継続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29600" y="5120640"/>
            <a:ext cx="3474720" cy="1188720"/>
          </a:xfrm>
          <a:prstGeom prst="round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0" y="52578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89B4FA"/>
                </a:solidFill>
                <a:latin typeface="Yu Gothic UI"/>
              </a:defRPr>
            </a:pPr>
            <a:r>
              <a:t>ダッシュボード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03920" y="566928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6ADC8"/>
                </a:solidFill>
                <a:latin typeface="Yu Gothic UI"/>
              </a:defRPr>
            </a:pPr>
            <a:r>
              <a:t>カスタマイズ表示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89B4FA"/>
                </a:solidFill>
                <a:latin typeface="Yu Gothic UI"/>
              </a:defRPr>
            </a:pPr>
            <a:r>
              <a:t>なぜこのアプリを作ったのか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371600" y="1371600"/>
            <a:ext cx="9418320" cy="3657600"/>
          </a:xfrm>
          <a:prstGeom prst="round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0" y="1645920"/>
            <a:ext cx="85039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400"/>
              </a:spcAft>
              <a:defRPr sz="2000" b="0">
                <a:solidFill>
                  <a:srgbClr val="A6ADC8"/>
                </a:solidFill>
                <a:latin typeface="Yu Gothic UI"/>
              </a:defRPr>
            </a:pPr>
            <a:r>
              <a:t>学生時代、夢を持てず将来に希望を見出せない時期がありました。</a:t>
            </a:r>
          </a:p>
          <a:p>
            <a:pPr algn="l">
              <a:spcAft>
                <a:spcPts val="400"/>
              </a:spcAft>
              <a:defRPr sz="2000" b="0">
                <a:solidFill>
                  <a:srgbClr val="A6ADC8"/>
                </a:solidFill>
                <a:latin typeface="Yu Gothic UI"/>
              </a:defRPr>
            </a:pPr>
            <a:r>
              <a:t>本との出会いを通じて</a:t>
            </a:r>
          </a:p>
          <a:p>
            <a:pPr algn="l">
              <a:spcAft>
                <a:spcPts val="400"/>
              </a:spcAft>
              <a:defRPr sz="2800" b="1">
                <a:solidFill>
                  <a:srgbClr val="89B4FA"/>
                </a:solidFill>
                <a:latin typeface="Yu Gothic UI"/>
              </a:defRPr>
            </a:pPr>
            <a:r>
              <a:t>「生き生きと生きるには夢が必要」</a:t>
            </a:r>
          </a:p>
          <a:p>
            <a:pPr algn="l">
              <a:spcAft>
                <a:spcPts val="2400"/>
              </a:spcAft>
              <a:defRPr sz="2000" b="0">
                <a:solidFill>
                  <a:srgbClr val="A6ADC8"/>
                </a:solidFill>
                <a:latin typeface="Yu Gothic UI"/>
              </a:defRPr>
            </a:pPr>
            <a:r>
              <a:t>と気づきました。</a:t>
            </a:r>
          </a:p>
          <a:p>
            <a:pPr algn="l">
              <a:spcAft>
                <a:spcPts val="800"/>
              </a:spcAft>
              <a:defRPr sz="2000" b="0">
                <a:solidFill>
                  <a:srgbClr val="A6ADC8"/>
                </a:solidFill>
                <a:latin typeface="Yu Gothic UI"/>
              </a:defRPr>
            </a:pPr>
            <a:r>
              <a:t>夢を言語化し行動に移す仕組みを、アプリとして形にしました。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53035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F9E2AF"/>
                </a:solidFill>
                <a:latin typeface="Yu Gothic UI"/>
              </a:defRPr>
            </a:pPr>
            <a:r>
              <a:t>ユメログは「最初の一歩」を支えるアプリです。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59436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6C7086"/>
                </a:solidFill>
                <a:latin typeface="Yu Gothic UI"/>
              </a:defRPr>
            </a:pPr>
            <a:r>
              <a:t>そしてこのアプリ自体が、AI駆動開発における私の「最初の一歩」でもあります。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54864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400" b="1">
                <a:solidFill>
                  <a:srgbClr val="89B4FA"/>
                </a:solidFill>
                <a:latin typeface="Yu Gothic UI"/>
              </a:defRPr>
            </a:pPr>
            <a:r>
              <a:t>3週間で作ったアプリの品質、</a:t>
            </a:r>
            <a:br/>
            <a:r>
              <a:t>自分の目で確かめてみてください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18288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A6ADC8"/>
                </a:solidFill>
                <a:latin typeface="Yu Gothic UI"/>
              </a:defRPr>
            </a:pPr>
            <a:r>
              <a:t>Webブラウザですぐに開けます。登録不要・完全無料。</a:t>
            </a:r>
          </a:p>
        </p:txBody>
      </p:sp>
      <p:pic>
        <p:nvPicPr>
          <p:cNvPr id="4" name="Picture 3" descr="LP用QRコード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0" y="2560320"/>
            <a:ext cx="3200400" cy="3200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828800" y="59436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89B4FA"/>
                </a:solidFill>
                <a:latin typeface="Yu Gothic UI"/>
              </a:defRPr>
            </a:pPr>
            <a:r>
              <a:t>https://teppei19980914.github.io/GrowthEngine/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89B4FA"/>
                </a:solidFill>
                <a:latin typeface="Yu Gothic UI"/>
              </a:defRPr>
            </a:pPr>
            <a:r>
              <a:t>まとめ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97280" y="1371600"/>
            <a:ext cx="9875520" cy="914400"/>
          </a:xfrm>
          <a:prstGeom prst="round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371600" y="1444752"/>
            <a:ext cx="822960" cy="822960"/>
          </a:xfrm>
          <a:prstGeom prst="ellipse">
            <a:avLst/>
          </a:prstGeom>
          <a:solidFill>
            <a:srgbClr val="A6E3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200" b="1">
                <a:solidFill>
                  <a:srgbClr val="1E1E2E"/>
                </a:solidFill>
                <a:latin typeface="Yu Gothic UI"/>
              </a:defRPr>
            </a:pPr>
            <a: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0" y="1554480"/>
            <a:ext cx="7772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CDD6F4"/>
                </a:solidFill>
                <a:latin typeface="Yu Gothic UI"/>
              </a:defRPr>
            </a:pPr>
            <a:r>
              <a:t>未経験技術の学習コストがゼロに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2651760"/>
            <a:ext cx="9875520" cy="914400"/>
          </a:xfrm>
          <a:prstGeom prst="round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371600" y="2724912"/>
            <a:ext cx="822960" cy="822960"/>
          </a:xfrm>
          <a:prstGeom prst="ellipse">
            <a:avLst/>
          </a:prstGeom>
          <a:solidFill>
            <a:srgbClr val="A6E3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200" b="1">
                <a:solidFill>
                  <a:srgbClr val="1E1E2E"/>
                </a:solidFill>
                <a:latin typeface="Yu Gothic UI"/>
              </a:defRPr>
            </a:pPr>
            <a: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0320" y="2834640"/>
            <a:ext cx="7772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CDD6F4"/>
                </a:solidFill>
                <a:latin typeface="Yu Gothic UI"/>
              </a:defRPr>
            </a:pPr>
            <a:r>
              <a:t>テスト工程が消滅（開発と同時に自動生成）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97280" y="3931920"/>
            <a:ext cx="9875520" cy="914400"/>
          </a:xfrm>
          <a:prstGeom prst="round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371600" y="4005072"/>
            <a:ext cx="822960" cy="822960"/>
          </a:xfrm>
          <a:prstGeom prst="ellipse">
            <a:avLst/>
          </a:prstGeom>
          <a:solidFill>
            <a:srgbClr val="A6E3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200" b="1">
                <a:solidFill>
                  <a:srgbClr val="1E1E2E"/>
                </a:solidFill>
                <a:latin typeface="Yu Gothic UI"/>
              </a:defRPr>
            </a:pPr>
            <a: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60320" y="4114800"/>
            <a:ext cx="7772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CDD6F4"/>
                </a:solidFill>
                <a:latin typeface="Yu Gothic UI"/>
              </a:defRPr>
            </a:pPr>
            <a:r>
              <a:t>開発期間が 6〜9分の1 に短縮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828800" y="5303520"/>
            <a:ext cx="8503920" cy="914400"/>
          </a:xfrm>
          <a:prstGeom prst="round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>
                <a:solidFill>
                  <a:srgbClr val="1E1E2E"/>
                </a:solidFill>
                <a:latin typeface="Yu Gothic UI"/>
              </a:defRPr>
            </a:pPr>
            <a:r>
              <a:t>AI駆動開発は「人間の潜在能力を引き出すエンジン」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0" y="6400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6C7086"/>
                </a:solidFill>
                <a:latin typeface="Yu Gothic UI"/>
              </a:defRPr>
            </a:pPr>
            <a:r>
              <a:t>ご清聴ありがとうございました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