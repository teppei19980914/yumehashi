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0972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89B4FA"/>
                </a:solidFill>
                <a:latin typeface="Yu Gothic UI"/>
              </a:defRPr>
            </a:pPr>
            <a:r>
              <a:t>ユメログ (YumeLog)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945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CDD6F4"/>
                </a:solidFill>
                <a:latin typeface="Yu Gothic UI"/>
              </a:defRPr>
            </a:pPr>
            <a:r>
              <a:t>夢を持つことで、大きな壁も乗り越えられる。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A6ADC8"/>
                </a:solidFill>
                <a:latin typeface="Yu Gothic UI"/>
              </a:defRPr>
            </a:pPr>
            <a:r>
              <a:t>あなたの「やりたいこと」を、行動に変えるアプリ</a:t>
            </a:r>
          </a:p>
        </p:txBody>
      </p:sp>
      <p:pic>
        <p:nvPicPr>
          <p:cNvPr id="5" name="Picture 4" descr="LP用QRコード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3840480"/>
            <a:ext cx="22860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0" y="62179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C7086"/>
                </a:solidFill>
                <a:latin typeface="Yu Gothic UI"/>
              </a:defRPr>
            </a:pPr>
            <a:r>
              <a:t>QRコードからすぐに体験できます（無料・登録不要）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89B4FA"/>
                </a:solidFill>
                <a:latin typeface="Yu Gothic UI"/>
              </a:defRPr>
            </a:pPr>
            <a:r>
              <a:t>自己紹介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029200" cy="475488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4389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  <a:defRPr sz="2200" b="1">
                <a:solidFill>
                  <a:srgbClr val="89B4FA"/>
                </a:solidFill>
                <a:latin typeface="Yu Gothic UI"/>
              </a:defRPr>
            </a:pPr>
            <a:r>
              <a:t>プロフィール</a:t>
            </a:r>
          </a:p>
          <a:p>
            <a:pPr algn="l">
              <a:spcAft>
                <a:spcPts val="1600"/>
              </a:spcAft>
              <a:defRPr sz="2000" b="1">
                <a:solidFill>
                  <a:srgbClr val="CDD6F4"/>
                </a:solidFill>
                <a:latin typeface="Yu Gothic UI"/>
              </a:defRPr>
            </a:pPr>
            <a:r>
              <a:t>27歳 / IT業界 5年目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CDD6F4"/>
                </a:solidFill>
                <a:latin typeface="Yu Gothic UI"/>
              </a:defRPr>
            </a:pPr>
          </a:p>
          <a:p>
            <a:pPr algn="l">
              <a:spcAft>
                <a:spcPts val="200"/>
              </a:spcAft>
              <a:defRPr sz="1400" b="0">
                <a:solidFill>
                  <a:srgbClr val="6C7086"/>
                </a:solidFill>
                <a:latin typeface="Yu Gothic UI"/>
              </a:defRPr>
            </a:pPr>
            <a:r>
              <a:t>IT業界経験</a:t>
            </a:r>
          </a:p>
          <a:p>
            <a:pPr algn="l">
              <a:spcAft>
                <a:spcPts val="1200"/>
              </a:spcAft>
              <a:defRPr sz="1600" b="0">
                <a:solidFill>
                  <a:srgbClr val="CDD6F4"/>
                </a:solidFill>
                <a:latin typeface="Yu Gothic UI"/>
              </a:defRPr>
            </a:pPr>
            <a:r>
              <a:t>パッケージ開発（約3年）/ ローコード開発（約3年）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6C7086"/>
                </a:solidFill>
                <a:latin typeface="Yu Gothic UI"/>
              </a:defRPr>
            </a:pPr>
            <a:r>
              <a:t>スクラッチ開発経験</a:t>
            </a:r>
          </a:p>
          <a:p>
            <a:pPr algn="l">
              <a:spcAft>
                <a:spcPts val="1200"/>
              </a:spcAft>
              <a:defRPr sz="1600" b="1">
                <a:solidFill>
                  <a:srgbClr val="F9E2AF"/>
                </a:solidFill>
                <a:latin typeface="Yu Gothic UI"/>
              </a:defRPr>
            </a:pPr>
            <a:r>
              <a:t>なし（ユメログが初のスクラッチ開発）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6C7086"/>
                </a:solidFill>
                <a:latin typeface="Yu Gothic UI"/>
              </a:defRPr>
            </a:pPr>
            <a:r>
              <a:t>Flutter / Dart 経験</a:t>
            </a:r>
          </a:p>
          <a:p>
            <a:pPr algn="l">
              <a:spcAft>
                <a:spcPts val="1200"/>
              </a:spcAft>
              <a:defRPr sz="1600" b="1">
                <a:solidFill>
                  <a:srgbClr val="F9E2AF"/>
                </a:solidFill>
                <a:latin typeface="Yu Gothic UI"/>
              </a:defRPr>
            </a:pPr>
            <a:r>
              <a:t>なし（ユメログが初）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0" y="155448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0"/>
              </a:spcAft>
              <a:defRPr sz="2200" b="1">
                <a:solidFill>
                  <a:srgbClr val="89B4FA"/>
                </a:solidFill>
                <a:latin typeface="Yu Gothic UI"/>
              </a:defRPr>
            </a:pPr>
            <a:r>
              <a:t>このLTで伝えたいこと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CDD6F4"/>
                </a:solidFill>
                <a:latin typeface="Yu Gothic UI"/>
              </a:defRPr>
            </a:pPr>
          </a:p>
          <a:p>
            <a:pPr algn="l">
              <a:spcAft>
                <a:spcPts val="1600"/>
              </a:spcAft>
              <a:defRPr sz="1800" b="0">
                <a:solidFill>
                  <a:srgbClr val="CDD6F4"/>
                </a:solidFill>
                <a:latin typeface="Yu Gothic UI"/>
              </a:defRPr>
            </a:pPr>
            <a:r>
              <a:t>1. 夢を行動に変えるアプリを作った話</a:t>
            </a:r>
          </a:p>
          <a:p>
            <a:pPr algn="l">
              <a:spcAft>
                <a:spcPts val="1600"/>
              </a:spcAft>
              <a:defRPr sz="1800" b="0">
                <a:solidFill>
                  <a:srgbClr val="CDD6F4"/>
                </a:solidFill>
                <a:latin typeface="Yu Gothic UI"/>
              </a:defRPr>
            </a:pPr>
            <a:r>
              <a:t>2. AI駆動開発で実現した驚異的な生産性</a:t>
            </a:r>
          </a:p>
          <a:p>
            <a:pPr algn="l">
              <a:spcAft>
                <a:spcPts val="1600"/>
              </a:spcAft>
              <a:defRPr sz="1800" b="0">
                <a:solidFill>
                  <a:srgbClr val="CDD6F4"/>
                </a:solidFill>
                <a:latin typeface="Yu Gothic UI"/>
              </a:defRPr>
            </a:pPr>
            <a:r>
              <a:t>3. 未経験技術でもプロダクトが作れる</a:t>
            </a:r>
          </a:p>
          <a:p>
            <a:pPr algn="l">
              <a:spcAft>
                <a:spcPts val="800"/>
              </a:spcAft>
              <a:defRPr sz="1200" b="0">
                <a:solidFill>
                  <a:srgbClr val="CDD6F4"/>
                </a:solidFill>
                <a:latin typeface="Yu Gothic UI"/>
              </a:defRPr>
            </a:pPr>
          </a:p>
          <a:p>
            <a:pPr algn="l">
              <a:spcAft>
                <a:spcPts val="400"/>
              </a:spcAft>
              <a:defRPr sz="1600" b="0">
                <a:solidFill>
                  <a:srgbClr val="6C7086"/>
                </a:solidFill>
                <a:latin typeface="Yu Gothic UI"/>
              </a:defRPr>
            </a:pPr>
            <a:r>
              <a:t>スクラッチ開発未経験 + Flutter未経験</a:t>
            </a:r>
          </a:p>
          <a:p>
            <a:pPr algn="l">
              <a:spcAft>
                <a:spcPts val="600"/>
              </a:spcAft>
              <a:defRPr sz="1800" b="1">
                <a:solidFill>
                  <a:srgbClr val="A6E3A1"/>
                </a:solidFill>
                <a:latin typeface="Yu Gothic UI"/>
              </a:defRPr>
            </a:pPr>
            <a:r>
              <a:t>→ 3週間でプロダクション品質のアプリを完成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89B4FA"/>
                </a:solidFill>
                <a:latin typeface="Yu Gothic UI"/>
              </a:defRPr>
            </a:pPr>
            <a:r>
              <a:t>こんな悩み、ありませんか？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1463040"/>
            <a:ext cx="9875520" cy="82296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1600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CDD6F4"/>
                </a:solidFill>
                <a:latin typeface="Yu Gothic UI"/>
              </a:defRPr>
            </a:pPr>
            <a:r>
              <a:t>  やりたいことはあるけど、何から始めればいいか分からない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560320"/>
            <a:ext cx="9875520" cy="82296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2697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CDD6F4"/>
                </a:solidFill>
                <a:latin typeface="Yu Gothic UI"/>
              </a:defRPr>
            </a:pPr>
            <a:r>
              <a:t>  目標を立てても、いつの間にか忘れてしまう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3657600"/>
            <a:ext cx="9875520" cy="82296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3794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CDD6F4"/>
                </a:solidFill>
                <a:latin typeface="Yu Gothic UI"/>
              </a:defRPr>
            </a:pPr>
            <a:r>
              <a:t>  毎日忙しくて、夢に向かう時間が取れない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45720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89B4FA"/>
                </a:solidFill>
                <a:latin typeface="Yu Gothic UI"/>
              </a:defRPr>
            </a:pPr>
            <a:r>
              <a:t>       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86000" y="5029200"/>
            <a:ext cx="7315200" cy="1097280"/>
          </a:xfrm>
          <a:prstGeom prst="round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>
                <a:solidFill>
                  <a:srgbClr val="1E1E2E"/>
                </a:solidFill>
                <a:latin typeface="Yu Gothic UI"/>
              </a:defRPr>
            </a:pPr>
            <a:r>
              <a:t>ユメログは「最初の一歩」を踏み出すきっかけと</a:t>
            </a:r>
            <a:br/>
            <a:r>
              <a:t>動き続けるための仕組みを提供します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89B4FA"/>
                </a:solidFill>
                <a:latin typeface="Yu Gothic UI"/>
              </a:defRPr>
            </a:pPr>
            <a:r>
              <a:t>3ステップで、夢を行動に変える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3474720" cy="457200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011680" y="1828800"/>
            <a:ext cx="914400" cy="914400"/>
          </a:xfrm>
          <a:prstGeom prst="ellipse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1E1E2E"/>
                </a:solidFill>
                <a:latin typeface="Yu Gothic UI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9260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89B4FA"/>
                </a:solidFill>
                <a:latin typeface="Yu Gothic UI"/>
              </a:defRPr>
            </a:pPr>
            <a:r>
              <a:t>書き出す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65760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6ADC8"/>
                </a:solidFill>
                <a:latin typeface="Yu Gothic UI"/>
              </a:defRPr>
            </a:pPr>
            <a:r>
              <a:t>夢を言葉にして書き出すだけ。</a:t>
            </a:r>
            <a:br/>
            <a:r>
              <a:t>脳がそれを「目標」として認識し始めます。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59" y="1463040"/>
            <a:ext cx="3474720" cy="457200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760719" y="1828800"/>
            <a:ext cx="914400" cy="914400"/>
          </a:xfrm>
          <a:prstGeom prst="ellipse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1E1E2E"/>
                </a:solidFill>
                <a:latin typeface="Yu Gothic UI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79" y="29260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A6E3A1"/>
                </a:solidFill>
                <a:latin typeface="Yu Gothic UI"/>
              </a:defRPr>
            </a:pPr>
            <a:r>
              <a:t>分解する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79" y="365760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6ADC8"/>
                </a:solidFill>
                <a:latin typeface="Yu Gothic UI"/>
              </a:defRPr>
            </a:pPr>
            <a:r>
              <a:t>夢を目標に、目標をタスクに分解。</a:t>
            </a:r>
            <a:br/>
            <a:r>
              <a:t>大きな壁が、毎日の小さな行動に変わります。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463040"/>
            <a:ext cx="3474720" cy="457200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509760" y="1828800"/>
            <a:ext cx="914400" cy="914400"/>
          </a:xfrm>
          <a:prstGeom prst="ellipse">
            <a:avLst/>
          </a:prstGeom>
          <a:solidFill>
            <a:srgbClr val="F9E2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1E1E2E"/>
                </a:solidFill>
                <a:latin typeface="Yu Gothic UI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9260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9E2AF"/>
                </a:solidFill>
                <a:latin typeface="Yu Gothic UI"/>
              </a:defRPr>
            </a:pPr>
            <a:r>
              <a:t>続ける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365760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6ADC8"/>
                </a:solidFill>
                <a:latin typeface="Yu Gothic UI"/>
              </a:defRPr>
            </a:pPr>
            <a:r>
              <a:t>活動の積み重ねが星座として輝きます。</a:t>
            </a:r>
            <a:br/>
            <a:r>
              <a:t>星座を完成させる旅が、成長の証に。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89B4FA"/>
                </a:solidFill>
                <a:latin typeface="Yu Gothic UI"/>
              </a:defRPr>
            </a:pPr>
            <a:r>
              <a:t>主な機能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474720" cy="219456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6459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89B4FA"/>
                </a:solidFill>
                <a:latin typeface="Yu Gothic UI"/>
              </a:defRPr>
            </a:pPr>
            <a:r>
              <a:t>夢・目標・タスク管理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6ADC8"/>
                </a:solidFill>
                <a:latin typeface="Yu Gothic UI"/>
              </a:defRPr>
            </a:pPr>
            <a:r>
              <a:t>夢→目標→タスクの</a:t>
            </a:r>
            <a:br/>
            <a:r>
              <a:t>階層で整理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59" y="1371600"/>
            <a:ext cx="3474720" cy="219456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79" y="16459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89B4FA"/>
                </a:solidFill>
                <a:latin typeface="Yu Gothic UI"/>
              </a:defRPr>
            </a:pPr>
            <a:r>
              <a:t>活動予定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79" y="228600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6ADC8"/>
                </a:solidFill>
                <a:latin typeface="Yu Gothic UI"/>
              </a:defRPr>
            </a:pPr>
            <a:r>
              <a:t>タイムラインで</a:t>
            </a:r>
            <a:br/>
            <a:r>
              <a:t>タスクを可視化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371600"/>
            <a:ext cx="3474720" cy="219456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0" y="16459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89B4FA"/>
                </a:solidFill>
                <a:latin typeface="Yu Gothic UI"/>
              </a:defRPr>
            </a:pPr>
            <a:r>
              <a:t>書籍管理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228600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6ADC8"/>
                </a:solidFill>
                <a:latin typeface="Yu Gothic UI"/>
              </a:defRPr>
            </a:pPr>
            <a:r>
              <a:t>本棚風UIで</a:t>
            </a:r>
            <a:br/>
            <a:r>
              <a:t>読書を管理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3474720" cy="219456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2062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89B4FA"/>
                </a:solidFill>
                <a:latin typeface="Yu Gothic UI"/>
              </a:defRPr>
            </a:pPr>
            <a:r>
              <a:t>統計・分析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84632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6ADC8"/>
                </a:solidFill>
                <a:latin typeface="Yu Gothic UI"/>
              </a:defRPr>
            </a:pPr>
            <a:r>
              <a:t>活動時間・連続記録を</a:t>
            </a:r>
            <a:br/>
            <a:r>
              <a:t>グラフで可視化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59" y="3931920"/>
            <a:ext cx="3474720" cy="219456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79" y="42062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89B4FA"/>
                </a:solidFill>
                <a:latin typeface="Yu Gothic UI"/>
              </a:defRPr>
            </a:pPr>
            <a:r>
              <a:t>星座システム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79" y="484632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6ADC8"/>
                </a:solidFill>
                <a:latin typeface="Yu Gothic UI"/>
              </a:defRPr>
            </a:pPr>
            <a:r>
              <a:t>活動で星が灯り</a:t>
            </a:r>
            <a:br/>
            <a:r>
              <a:t>星座が完成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3931920"/>
            <a:ext cx="3474720" cy="219456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0" y="42062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89B4FA"/>
                </a:solidFill>
                <a:latin typeface="Yu Gothic UI"/>
              </a:defRPr>
            </a:pPr>
            <a:r>
              <a:t>ダッシュボード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484632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6ADC8"/>
                </a:solidFill>
                <a:latin typeface="Yu Gothic UI"/>
              </a:defRPr>
            </a:pPr>
            <a:r>
              <a:t>必要な情報を</a:t>
            </a:r>
            <a:br/>
            <a:r>
              <a:t>カスタマイズ表示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6217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C7086"/>
                </a:solidFill>
                <a:latin typeface="Yu Gothic UI"/>
              </a:defRPr>
            </a:pPr>
            <a:r>
              <a:t>* 各画面のスクリーンショットは後ほどデモでお見せします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89B4FA"/>
                </a:solidFill>
                <a:latin typeface="Yu Gothic UI"/>
              </a:defRPr>
            </a:pPr>
            <a:r>
              <a:t>AI駆動開発の成果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029200" cy="228600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4389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2000" b="1">
                <a:solidFill>
                  <a:srgbClr val="89B4FA"/>
                </a:solidFill>
                <a:latin typeface="Yu Gothic UI"/>
              </a:defRPr>
            </a:pPr>
            <a:r>
              <a:t>開発条件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CDD6F4"/>
                </a:solidFill>
                <a:latin typeface="Yu Gothic UI"/>
              </a:defRPr>
            </a:pPr>
            <a:r>
              <a:t>Flutter / Dart 経験: ゼロ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CDD6F4"/>
                </a:solidFill>
                <a:latin typeface="Yu Gothic UI"/>
              </a:defRPr>
            </a:pPr>
            <a:r>
              <a:t>スクラッチ開発経験: ゼロ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CDD6F4"/>
                </a:solidFill>
                <a:latin typeface="Yu Gothic UI"/>
              </a:defRPr>
            </a:pPr>
            <a:r>
              <a:t>AI: Claude Code（ペアプログラミング）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12080" cy="228600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0" y="1554480"/>
            <a:ext cx="4572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2000" b="1">
                <a:solidFill>
                  <a:srgbClr val="A6E3A1"/>
                </a:solidFill>
                <a:latin typeface="Yu Gothic UI"/>
              </a:defRPr>
            </a:pPr>
            <a:r>
              <a:t>実績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CDD6F4"/>
                </a:solidFill>
                <a:latin typeface="Yu Gothic UI"/>
              </a:defRPr>
            </a:pPr>
            <a:r>
              <a:t>開発期間: 約3週間（実稼働21日）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CDD6F4"/>
                </a:solidFill>
                <a:latin typeface="Yu Gothic UI"/>
              </a:defRPr>
            </a:pPr>
            <a:r>
              <a:t>コード規模: 約48,000行（テスト含む）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CDD6F4"/>
                </a:solidFill>
                <a:latin typeface="Yu Gothic UI"/>
              </a:defRPr>
            </a:pPr>
            <a:r>
              <a:t>テスト: 813ケース（全件パス）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9319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9E2AF"/>
                </a:solidFill>
                <a:latin typeface="Yu Gothic UI"/>
              </a:defRPr>
            </a:pPr>
            <a:r>
              <a:t>従来開発との比較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805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C7086"/>
                </a:solidFill>
                <a:latin typeface="Yu Gothic UI"/>
              </a:defRPr>
            </a:pPr>
            <a:r>
              <a:t>指標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44805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C7086"/>
                </a:solidFill>
                <a:latin typeface="Yu Gothic UI"/>
              </a:defRPr>
            </a:pPr>
            <a:r>
              <a:t>従来開発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44805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C7086"/>
                </a:solidFill>
                <a:latin typeface="Yu Gothic UI"/>
              </a:defRPr>
            </a:pPr>
            <a:r>
              <a:t>AI駆動開発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4480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C7086"/>
                </a:solidFill>
                <a:latin typeface="Yu Gothic UI"/>
              </a:defRPr>
            </a:pPr>
            <a:r>
              <a:t>効果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00600"/>
            <a:ext cx="10972800" cy="41148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846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DD6F4"/>
                </a:solidFill>
                <a:latin typeface="Yu Gothic UI"/>
              </a:defRPr>
            </a:pPr>
            <a:r>
              <a:t>開発期間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4846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6ADC8"/>
                </a:solidFill>
                <a:latin typeface="Yu Gothic UI"/>
              </a:defRPr>
            </a:pPr>
            <a:r>
              <a:t>6〜9ヶ月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4846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89B4FA"/>
                </a:solidFill>
                <a:latin typeface="Yu Gothic UI"/>
              </a:defRPr>
            </a:pPr>
            <a:r>
              <a:t>21日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4846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6E3A1"/>
                </a:solidFill>
                <a:latin typeface="Yu Gothic UI"/>
              </a:defRPr>
            </a:pPr>
            <a:r>
              <a:t>6〜9倍 短縮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3035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DD6F4"/>
                </a:solidFill>
                <a:latin typeface="Yu Gothic UI"/>
              </a:defRPr>
            </a:pPr>
            <a:r>
              <a:t>コード生産速度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53035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6ADC8"/>
                </a:solidFill>
                <a:latin typeface="Yu Gothic UI"/>
              </a:defRPr>
            </a:pPr>
            <a:r>
              <a:t>50〜100行/日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0" y="53035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89B4FA"/>
                </a:solidFill>
                <a:latin typeface="Yu Gothic UI"/>
              </a:defRPr>
            </a:pPr>
            <a:r>
              <a:t>2,281行/日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5303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6E3A1"/>
                </a:solidFill>
                <a:latin typeface="Yu Gothic UI"/>
              </a:defRPr>
            </a:pPr>
            <a:r>
              <a:t>23〜46倍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715000"/>
            <a:ext cx="10972800" cy="41148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7607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DD6F4"/>
                </a:solidFill>
                <a:latin typeface="Yu Gothic UI"/>
              </a:defRPr>
            </a:pPr>
            <a:r>
              <a:t>テスト密度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57607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6ADC8"/>
                </a:solidFill>
                <a:latin typeface="Yu Gothic UI"/>
              </a:defRPr>
            </a:pPr>
            <a:r>
              <a:t>0〜3件/KLOC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60" y="57607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89B4FA"/>
                </a:solidFill>
                <a:latin typeface="Yu Gothic UI"/>
              </a:defRPr>
            </a:pPr>
            <a:r>
              <a:t>16.9件/KLOC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5760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6E3A1"/>
                </a:solidFill>
                <a:latin typeface="Yu Gothic UI"/>
              </a:defRPr>
            </a:pPr>
            <a:r>
              <a:t>6倍以上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62179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DD6F4"/>
                </a:solidFill>
                <a:latin typeface="Yu Gothic UI"/>
              </a:defRPr>
            </a:pPr>
            <a:r>
              <a:t>学習コスト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40" y="62179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6ADC8"/>
                </a:solidFill>
                <a:latin typeface="Yu Gothic UI"/>
              </a:defRPr>
            </a:pPr>
            <a:r>
              <a:t>1〜2ヶ月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52160" y="62179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89B4FA"/>
                </a:solidFill>
                <a:latin typeface="Yu Gothic UI"/>
              </a:defRPr>
            </a:pPr>
            <a:r>
              <a:t>0日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6217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6E3A1"/>
                </a:solidFill>
                <a:latin typeface="Yu Gothic UI"/>
              </a:defRPr>
            </a:pPr>
            <a:r>
              <a:t>省略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89B4FA"/>
                </a:solidFill>
                <a:latin typeface="Yu Gothic UI"/>
              </a:defRPr>
            </a:pPr>
            <a:r>
              <a:t>開発者の想い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371600"/>
            <a:ext cx="9418320" cy="411480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645920"/>
            <a:ext cx="8503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0"/>
              </a:spcAft>
              <a:defRPr sz="2000" b="0">
                <a:solidFill>
                  <a:srgbClr val="A6ADC8"/>
                </a:solidFill>
                <a:latin typeface="Yu Gothic UI"/>
              </a:defRPr>
            </a:pPr>
            <a:r>
              <a:t>学生時代、夢を持てず将来に希望を見出せない時期がありました。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CDD6F4"/>
                </a:solidFill>
                <a:latin typeface="Yu Gothic UI"/>
              </a:defRPr>
            </a:pPr>
          </a:p>
          <a:p>
            <a:pPr algn="l">
              <a:spcAft>
                <a:spcPts val="400"/>
              </a:spcAft>
              <a:defRPr sz="2000" b="0">
                <a:solidFill>
                  <a:srgbClr val="A6ADC8"/>
                </a:solidFill>
                <a:latin typeface="Yu Gothic UI"/>
              </a:defRPr>
            </a:pPr>
            <a:r>
              <a:t>本との出会いを通じて</a:t>
            </a:r>
          </a:p>
          <a:p>
            <a:pPr algn="l">
              <a:spcAft>
                <a:spcPts val="400"/>
              </a:spcAft>
              <a:defRPr sz="2600" b="1">
                <a:solidFill>
                  <a:srgbClr val="89B4FA"/>
                </a:solidFill>
                <a:latin typeface="Yu Gothic UI"/>
              </a:defRPr>
            </a:pPr>
            <a:r>
              <a:t>「生き生きと生きるには夢が必要」</a:t>
            </a:r>
          </a:p>
          <a:p>
            <a:pPr algn="l">
              <a:spcAft>
                <a:spcPts val="2000"/>
              </a:spcAft>
              <a:defRPr sz="2000" b="0">
                <a:solidFill>
                  <a:srgbClr val="A6ADC8"/>
                </a:solidFill>
                <a:latin typeface="Yu Gothic UI"/>
              </a:defRPr>
            </a:pPr>
            <a:r>
              <a:t>と気づきました。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CDD6F4"/>
                </a:solidFill>
                <a:latin typeface="Yu Gothic UI"/>
              </a:defRPr>
            </a:pPr>
          </a:p>
          <a:p>
            <a:pPr algn="l">
              <a:spcAft>
                <a:spcPts val="400"/>
              </a:spcAft>
              <a:defRPr sz="2000" b="0">
                <a:solidFill>
                  <a:srgbClr val="A6ADC8"/>
                </a:solidFill>
                <a:latin typeface="Yu Gothic UI"/>
              </a:defRPr>
            </a:pPr>
            <a:r>
              <a:t>夢を言語化し、行動に移す仕組みを</a:t>
            </a:r>
          </a:p>
          <a:p>
            <a:pPr algn="l">
              <a:spcAft>
                <a:spcPts val="2000"/>
              </a:spcAft>
              <a:defRPr sz="2000" b="0">
                <a:solidFill>
                  <a:srgbClr val="A6ADC8"/>
                </a:solidFill>
                <a:latin typeface="Yu Gothic UI"/>
              </a:defRPr>
            </a:pPr>
            <a:r>
              <a:t>アプリとして形にしたのがユメログです。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56692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9E2AF"/>
                </a:solidFill>
                <a:latin typeface="Yu Gothic UI"/>
              </a:defRPr>
            </a:pPr>
            <a:r>
              <a:t>ユメログは「最初の一歩」を支えるアプリです。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89B4FA"/>
                </a:solidFill>
                <a:latin typeface="Yu Gothic UI"/>
              </a:defRPr>
            </a:pPr>
            <a:r>
              <a:t>今すぐ体験してみてください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6ADC8"/>
                </a:solidFill>
                <a:latin typeface="Yu Gothic UI"/>
              </a:defRPr>
            </a:pPr>
            <a:r>
              <a:t>Webブラウザですぐに使えます。アカウント登録不要・完全無料。</a:t>
            </a:r>
          </a:p>
        </p:txBody>
      </p:sp>
      <p:pic>
        <p:nvPicPr>
          <p:cNvPr id="4" name="Picture 3" descr="LP用QRコード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2377440"/>
            <a:ext cx="3200400" cy="3200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0" y="5760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9B4FA"/>
                </a:solidFill>
                <a:latin typeface="Yu Gothic UI"/>
              </a:defRPr>
            </a:pPr>
            <a:r>
              <a:t>https://teppei19980914.github.io/GrowthEngine/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6309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C7086"/>
                </a:solidFill>
                <a:latin typeface="Yu Gothic UI"/>
              </a:defRPr>
            </a:pPr>
            <a:r>
              <a:t>ご清聴ありがとうございました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